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9144000" cy="6858000"/>
  <p:notesSz cx="68580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svg"/><Relationship Id="rId3" Type="http://schemas.openxmlformats.org/officeDocument/2006/relationships/image" Target="../media/image-2-3.png"/><Relationship Id="rId4" Type="http://schemas.openxmlformats.org/officeDocument/2006/relationships/image" Target="../media/image-2-4.svg"/><Relationship Id="rId5" Type="http://schemas.openxmlformats.org/officeDocument/2006/relationships/image" Target="../media/image-2-5.png"/><Relationship Id="rId6" Type="http://schemas.openxmlformats.org/officeDocument/2006/relationships/image" Target="../media/image-2-6.svg"/><Relationship Id="rId7" Type="http://schemas.openxmlformats.org/officeDocument/2006/relationships/image" Target="../media/image-2-7.png"/><Relationship Id="rId8" Type="http://schemas.openxmlformats.org/officeDocument/2006/relationships/image" Target="../media/image-2-8.svg"/><Relationship Id="rId9" Type="http://schemas.openxmlformats.org/officeDocument/2006/relationships/image" Target="../media/image-2-9.png"/><Relationship Id="rId10" Type="http://schemas.openxmlformats.org/officeDocument/2006/relationships/image" Target="../media/image-2-10.svg"/><Relationship Id="rId11" Type="http://schemas.openxmlformats.org/officeDocument/2006/relationships/slideLayout" Target="../slideLayouts/slideLayout1.xml"/><Relationship Id="rId1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11E4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" y="109728"/>
            <a:ext cx="8961120" cy="6638544"/>
          </a:xfrm>
          <a:prstGeom prst="roundRect">
            <a:avLst>
              <a:gd name="adj" fmla="val 1102"/>
            </a:avLst>
          </a:prstGeom>
          <a:solidFill>
            <a:srgbClr val="FFFFFF">
              <a:alpha val="0"/>
            </a:srgbClr>
          </a:solidFill>
          <a:ln w="28575">
            <a:solidFill>
              <a:srgbClr val="FAF8F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01168" y="219456"/>
            <a:ext cx="8741664" cy="6419088"/>
          </a:xfrm>
          <a:prstGeom prst="roundRect">
            <a:avLst>
              <a:gd name="adj" fmla="val 855"/>
            </a:avLst>
          </a:prstGeom>
          <a:solidFill>
            <a:srgbClr val="FFFFFF">
              <a:alpha val="0"/>
            </a:srgbClr>
          </a:solidFill>
          <a:ln w="15875">
            <a:solidFill>
              <a:srgbClr val="FAF8F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320040"/>
            <a:ext cx="813816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600" b="1" dirty="0">
                <a:solidFill>
                  <a:srgbClr val="FAF8F4"/>
                </a:solidFill>
                <a:latin typeface="Bodoni 72" pitchFamily="34" charset="0"/>
                <a:ea typeface="Bodoni 72" pitchFamily="34" charset="-122"/>
                <a:cs typeface="Bodoni 72" pitchFamily="34" charset="-120"/>
              </a:rPr>
              <a:t>Logarithmic Functions</a:t>
            </a:r>
            <a:endParaRPr lang="en-US" sz="6600" dirty="0"/>
          </a:p>
        </p:txBody>
      </p:sp>
      <p:sp>
        <p:nvSpPr>
          <p:cNvPr id="5" name="Text 3"/>
          <p:cNvSpPr/>
          <p:nvPr/>
        </p:nvSpPr>
        <p:spPr>
          <a:xfrm>
            <a:off x="777240" y="1481328"/>
            <a:ext cx="7589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3500" i="1" dirty="0">
                <a:solidFill>
                  <a:srgbClr val="82A4F5"/>
                </a:solidFill>
                <a:latin typeface="Baskerville" pitchFamily="34" charset="0"/>
                <a:ea typeface="Baskerville" pitchFamily="34" charset="-122"/>
                <a:cs typeface="Baskerville" pitchFamily="34" charset="-120"/>
              </a:rPr>
              <a:t>Solving Exponents</a:t>
            </a:r>
            <a:endParaRPr lang="en-US" sz="3500" dirty="0"/>
          </a:p>
        </p:txBody>
      </p:sp>
      <p:sp>
        <p:nvSpPr>
          <p:cNvPr id="6" name="Shape 4"/>
          <p:cNvSpPr/>
          <p:nvPr/>
        </p:nvSpPr>
        <p:spPr>
          <a:xfrm>
            <a:off x="1005840" y="2231136"/>
            <a:ext cx="7132320" cy="0"/>
          </a:xfrm>
          <a:prstGeom prst="line">
            <a:avLst/>
          </a:prstGeom>
          <a:noFill/>
          <a:ln w="15875">
            <a:solidFill>
              <a:srgbClr val="82A4F5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31520" y="2658066"/>
            <a:ext cx="7680960" cy="71890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502920" y="3694176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00" dirty="0">
                <a:solidFill>
                  <a:srgbClr val="82A4F5"/>
                </a:solidFill>
                <a:latin typeface="Baskerville" pitchFamily="34" charset="0"/>
                <a:ea typeface="Baskerville" pitchFamily="34" charset="-122"/>
                <a:cs typeface="Baskerville" pitchFamily="34" charset="-120"/>
              </a:rPr>
              <a:t>b = base; x = output of exponential; y = exponent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502920" y="4370832"/>
            <a:ext cx="8138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700" dirty="0">
                <a:solidFill>
                  <a:srgbClr val="FAF8F4"/>
                </a:solidFill>
                <a:latin typeface="Baskerville" pitchFamily="34" charset="0"/>
                <a:ea typeface="Baskerville" pitchFamily="34" charset="-122"/>
                <a:cs typeface="Baskerville" pitchFamily="34" charset="-120"/>
              </a:rPr>
              <a:t>Logarithms answer which exponent produces a value.</a:t>
            </a:r>
            <a:endParaRPr lang="en-US" sz="2700" dirty="0"/>
          </a:p>
        </p:txBody>
      </p:sp>
      <p:sp>
        <p:nvSpPr>
          <p:cNvPr id="10" name="Text 7"/>
          <p:cNvSpPr/>
          <p:nvPr/>
        </p:nvSpPr>
        <p:spPr>
          <a:xfrm>
            <a:off x="329184" y="4818888"/>
            <a:ext cx="848563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300" dirty="0">
                <a:solidFill>
                  <a:srgbClr val="FAF8F4"/>
                </a:solidFill>
                <a:latin typeface="Baskerville" pitchFamily="34" charset="0"/>
                <a:ea typeface="Baskerville" pitchFamily="34" charset="-122"/>
                <a:cs typeface="Baskerville" pitchFamily="34" charset="-120"/>
              </a:rPr>
              <a:t>They undo exponential functions.</a:t>
            </a:r>
            <a:endParaRPr lang="en-US" sz="2300" dirty="0"/>
          </a:p>
        </p:txBody>
      </p:sp>
      <p:sp>
        <p:nvSpPr>
          <p:cNvPr id="11" name="Text 8"/>
          <p:cNvSpPr/>
          <p:nvPr/>
        </p:nvSpPr>
        <p:spPr>
          <a:xfrm>
            <a:off x="1143000" y="5824728"/>
            <a:ext cx="6858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400" i="1" dirty="0">
                <a:solidFill>
                  <a:srgbClr val="82A4F5"/>
                </a:solidFill>
                <a:latin typeface="Baskerville" pitchFamily="34" charset="0"/>
                <a:ea typeface="Baskerville" pitchFamily="34" charset="-122"/>
                <a:cs typeface="Baskerville" pitchFamily="34" charset="-120"/>
              </a:rPr>
              <a:t>Flip for a worked example</a:t>
            </a:r>
            <a:endParaRPr lang="en-US" sz="2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" y="109728"/>
            <a:ext cx="8961120" cy="6638544"/>
          </a:xfrm>
          <a:prstGeom prst="roundRect">
            <a:avLst>
              <a:gd name="adj" fmla="val 1102"/>
            </a:avLst>
          </a:prstGeom>
          <a:solidFill>
            <a:srgbClr val="FFFFFF">
              <a:alpha val="0"/>
            </a:srgbClr>
          </a:solidFill>
          <a:ln w="28575">
            <a:solidFill>
              <a:srgbClr val="011E4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01168" y="219456"/>
            <a:ext cx="8741664" cy="6419088"/>
          </a:xfrm>
          <a:prstGeom prst="roundRect">
            <a:avLst>
              <a:gd name="adj" fmla="val 855"/>
            </a:avLst>
          </a:prstGeom>
          <a:solidFill>
            <a:srgbClr val="FFFFFF">
              <a:alpha val="0"/>
            </a:srgbClr>
          </a:solidFill>
          <a:ln w="15875">
            <a:solidFill>
              <a:srgbClr val="011E4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66928" y="347472"/>
            <a:ext cx="8010144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011E4F"/>
                </a:solidFill>
                <a:latin typeface="Bodoni 72" pitchFamily="34" charset="0"/>
                <a:ea typeface="Bodoni 72" pitchFamily="34" charset="-122"/>
                <a:cs typeface="Bodoni 72" pitchFamily="34" charset="-120"/>
              </a:rPr>
              <a:t>Worked Example</a:t>
            </a:r>
            <a:endParaRPr lang="en-US" sz="6000" dirty="0"/>
          </a:p>
        </p:txBody>
      </p:sp>
      <p:sp>
        <p:nvSpPr>
          <p:cNvPr id="5" name="Text 3"/>
          <p:cNvSpPr/>
          <p:nvPr/>
        </p:nvSpPr>
        <p:spPr>
          <a:xfrm>
            <a:off x="749808" y="1362456"/>
            <a:ext cx="76443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i="1" dirty="0">
                <a:solidFill>
                  <a:srgbClr val="176CF8"/>
                </a:solidFill>
                <a:latin typeface="Baskerville" pitchFamily="34" charset="0"/>
                <a:ea typeface="Baskerville" pitchFamily="34" charset="-122"/>
                <a:cs typeface="Baskerville" pitchFamily="34" charset="-120"/>
              </a:rPr>
              <a:t>Evaluate log₂(32).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1170432" y="1847088"/>
            <a:ext cx="6803136" cy="0"/>
          </a:xfrm>
          <a:prstGeom prst="line">
            <a:avLst/>
          </a:prstGeom>
          <a:noFill/>
          <a:ln w="15875">
            <a:solidFill>
              <a:srgbClr val="011E4F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253965" y="2276094"/>
            <a:ext cx="2636071" cy="491033"/>
          </a:xfrm>
          <a:prstGeom prst="rect">
            <a:avLst/>
          </a:prstGeom>
        </p:spPr>
      </p:pic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605279" y="2903525"/>
            <a:ext cx="1933442" cy="491033"/>
          </a:xfrm>
          <a:prstGeom prst="rect">
            <a:avLst/>
          </a:prstGeom>
        </p:spPr>
      </p:pic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757919" y="3530956"/>
            <a:ext cx="1628161" cy="491033"/>
          </a:xfrm>
          <a:prstGeom prst="rect">
            <a:avLst/>
          </a:prstGeom>
        </p:spPr>
      </p:pic>
      <p:pic>
        <p:nvPicPr>
          <p:cNvPr id="10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3922104" y="4158386"/>
            <a:ext cx="1299793" cy="491033"/>
          </a:xfrm>
          <a:prstGeom prst="rect">
            <a:avLst/>
          </a:prstGeom>
        </p:spPr>
      </p:pic>
      <p:pic>
        <p:nvPicPr>
          <p:cNvPr id="11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3073058" y="4785817"/>
            <a:ext cx="2997884" cy="491033"/>
          </a:xfrm>
          <a:prstGeom prst="rect">
            <a:avLst/>
          </a:prstGeom>
        </p:spPr>
      </p:pic>
      <p:sp>
        <p:nvSpPr>
          <p:cNvPr id="12" name="Text 5"/>
          <p:cNvSpPr/>
          <p:nvPr/>
        </p:nvSpPr>
        <p:spPr>
          <a:xfrm>
            <a:off x="685800" y="5843016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300" i="1" dirty="0">
                <a:solidFill>
                  <a:srgbClr val="176CF8"/>
                </a:solidFill>
                <a:latin typeface="Baskerville" pitchFamily="34" charset="0"/>
                <a:ea typeface="Baskerville" pitchFamily="34" charset="-122"/>
                <a:cs typeface="Baskerville" pitchFamily="34" charset="-120"/>
              </a:rPr>
              <a:t>A logarithm is an exponent question.</a:t>
            </a:r>
            <a:endParaRPr lang="en-US" sz="2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Logarithmic Functions</dc:title>
  <dc:subject>Concept-only flashcard generated from OpenStax Calculus Volume 1</dc:subject>
  <dc:creator>OpenAI</dc:creator>
  <cp:lastModifiedBy>OpenAI</cp:lastModifiedBy>
  <cp:revision>1</cp:revision>
  <dcterms:created xsi:type="dcterms:W3CDTF">2026-07-24T20:47:59Z</dcterms:created>
  <dcterms:modified xsi:type="dcterms:W3CDTF">2026-07-24T20:47:59Z</dcterms:modified>
</cp:coreProperties>
</file>