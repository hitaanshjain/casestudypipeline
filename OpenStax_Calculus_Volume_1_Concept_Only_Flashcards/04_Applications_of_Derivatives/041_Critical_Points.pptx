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FAF8F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FAF8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20040"/>
            <a:ext cx="81381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AF8F4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Critical Points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77240" y="148132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5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Possible Extrema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1005840" y="2231136"/>
            <a:ext cx="7132320" cy="0"/>
          </a:xfrm>
          <a:prstGeom prst="line">
            <a:avLst/>
          </a:prstGeom>
          <a:noFill/>
          <a:ln w="15875">
            <a:solidFill>
              <a:srgbClr val="82A4F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520" y="2719808"/>
            <a:ext cx="7680960" cy="5954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02920" y="3694176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 = input in the domain; f′ = derivative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437083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Critical points are candidates for local extrema.</a:t>
            </a:r>
            <a:endParaRPr lang="en-US" sz="2700" dirty="0"/>
          </a:p>
        </p:txBody>
      </p:sp>
      <p:sp>
        <p:nvSpPr>
          <p:cNvPr id="10" name="Text 7"/>
          <p:cNvSpPr/>
          <p:nvPr/>
        </p:nvSpPr>
        <p:spPr>
          <a:xfrm>
            <a:off x="329184" y="4818888"/>
            <a:ext cx="8485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dirty="0">
                <a:solidFill>
                  <a:srgbClr val="FAF8F4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They occur where slope is zero or derivative fails.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143000" y="5824728"/>
            <a:ext cx="6858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82A4F5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Flip for a worked example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" y="109728"/>
            <a:ext cx="8961120" cy="6638544"/>
          </a:xfrm>
          <a:prstGeom prst="roundRect">
            <a:avLst>
              <a:gd name="adj" fmla="val 1102"/>
            </a:avLst>
          </a:prstGeom>
          <a:solidFill>
            <a:srgbClr val="FFFFFF">
              <a:alpha val="0"/>
            </a:srgbClr>
          </a:solidFill>
          <a:ln w="28575">
            <a:solidFill>
              <a:srgbClr val="011E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01168" y="219456"/>
            <a:ext cx="8741664" cy="6419088"/>
          </a:xfrm>
          <a:prstGeom prst="roundRect">
            <a:avLst>
              <a:gd name="adj" fmla="val 855"/>
            </a:avLst>
          </a:prstGeom>
          <a:solidFill>
            <a:srgbClr val="FFFFFF">
              <a:alpha val="0"/>
            </a:srgbClr>
          </a:solidFill>
          <a:ln w="15875">
            <a:solidFill>
              <a:srgbClr val="011E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347472"/>
            <a:ext cx="801014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11E4F"/>
                </a:solidFill>
                <a:latin typeface="Bodoni 72" pitchFamily="34" charset="0"/>
                <a:ea typeface="Bodoni 72" pitchFamily="34" charset="-122"/>
                <a:cs typeface="Bodoni 72" pitchFamily="34" charset="-120"/>
              </a:rPr>
              <a:t>Worked Example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49808" y="1362456"/>
            <a:ext cx="7644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Find critical points of f(x)=x²−4x.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170432" y="1847088"/>
            <a:ext cx="6803136" cy="0"/>
          </a:xfrm>
          <a:prstGeom prst="line">
            <a:avLst/>
          </a:prstGeom>
          <a:noFill/>
          <a:ln w="15875">
            <a:solidFill>
              <a:srgbClr val="011E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38094" y="2392070"/>
            <a:ext cx="3067812" cy="50292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80004" y="3147365"/>
            <a:ext cx="2983992" cy="502920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745774" y="3902659"/>
            <a:ext cx="1652451" cy="50292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01091" y="4657954"/>
            <a:ext cx="4741817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5800" y="5843016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176CF8"/>
                </a:solidFill>
                <a:latin typeface="Baskerville" pitchFamily="34" charset="0"/>
                <a:ea typeface="Baskerville" pitchFamily="34" charset="-122"/>
                <a:cs typeface="Baskerville" pitchFamily="34" charset="-120"/>
              </a:rPr>
              <a:t>Extrema can occur where derivative stops deciding.</a:t>
            </a:r>
            <a:endParaRPr lang="en-US" sz="2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Critical Points</dc:title>
  <dc:subject>Concept-only flashcard generated from OpenStax Calculus Volume 1</dc:subject>
  <dc:creator>OpenAI</dc:creator>
  <cp:lastModifiedBy>OpenAI</cp:lastModifiedBy>
  <cp:revision>1</cp:revision>
  <dcterms:created xsi:type="dcterms:W3CDTF">2026-07-24T20:47:59Z</dcterms:created>
  <dcterms:modified xsi:type="dcterms:W3CDTF">2026-07-24T20:47:59Z</dcterms:modified>
</cp:coreProperties>
</file>