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image" Target="../media/image-2-7.png"/><Relationship Id="rId8" Type="http://schemas.openxmlformats.org/officeDocument/2006/relationships/image" Target="../media/image-2-8.svg"/><Relationship Id="rId9" Type="http://schemas.openxmlformats.org/officeDocument/2006/relationships/image" Target="../media/image-2-9.png"/><Relationship Id="rId10" Type="http://schemas.openxmlformats.org/officeDocument/2006/relationships/image" Target="../media/image-2-10.sv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E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" y="109728"/>
            <a:ext cx="8961120" cy="6638544"/>
          </a:xfrm>
          <a:prstGeom prst="roundRect">
            <a:avLst>
              <a:gd name="adj" fmla="val 1102"/>
            </a:avLst>
          </a:prstGeom>
          <a:solidFill>
            <a:srgbClr val="FFFFFF">
              <a:alpha val="0"/>
            </a:srgbClr>
          </a:solidFill>
          <a:ln w="28575">
            <a:solidFill>
              <a:srgbClr val="FAF8F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219456"/>
            <a:ext cx="8741664" cy="6419088"/>
          </a:xfrm>
          <a:prstGeom prst="roundRect">
            <a:avLst>
              <a:gd name="adj" fmla="val 855"/>
            </a:avLst>
          </a:prstGeom>
          <a:solidFill>
            <a:srgbClr val="FFFFFF">
              <a:alpha val="0"/>
            </a:srgbClr>
          </a:solidFill>
          <a:ln w="15875">
            <a:solidFill>
              <a:srgbClr val="FAF8F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81381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AF8F4"/>
                </a:solidFill>
                <a:latin typeface="Bodoni 72" pitchFamily="34" charset="0"/>
                <a:ea typeface="Bodoni 72" pitchFamily="34" charset="-122"/>
                <a:cs typeface="Bodoni 72" pitchFamily="34" charset="-120"/>
              </a:rPr>
              <a:t>Product Rule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777240" y="1481328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500" i="1" dirty="0">
                <a:solidFill>
                  <a:srgbClr val="82A4F5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Changing Factors</a:t>
            </a:r>
            <a:endParaRPr lang="en-US" sz="3500" dirty="0"/>
          </a:p>
        </p:txBody>
      </p:sp>
      <p:sp>
        <p:nvSpPr>
          <p:cNvPr id="6" name="Shape 4"/>
          <p:cNvSpPr/>
          <p:nvPr/>
        </p:nvSpPr>
        <p:spPr>
          <a:xfrm>
            <a:off x="1005840" y="2231136"/>
            <a:ext cx="7132320" cy="0"/>
          </a:xfrm>
          <a:prstGeom prst="line">
            <a:avLst/>
          </a:prstGeom>
          <a:noFill/>
          <a:ln w="15875">
            <a:solidFill>
              <a:srgbClr val="82A4F5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520" y="2468880"/>
            <a:ext cx="7680960" cy="10972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2920" y="3694176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82A4F5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f,g = differentiable factors; primes = derivatives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502920" y="4370832"/>
            <a:ext cx="8138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700" dirty="0">
                <a:solidFill>
                  <a:srgbClr val="FAF8F4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Use the product rule when both factors vary.</a:t>
            </a:r>
            <a:endParaRPr lang="en-US" sz="2700" dirty="0"/>
          </a:p>
        </p:txBody>
      </p:sp>
      <p:sp>
        <p:nvSpPr>
          <p:cNvPr id="10" name="Text 7"/>
          <p:cNvSpPr/>
          <p:nvPr/>
        </p:nvSpPr>
        <p:spPr>
          <a:xfrm>
            <a:off x="329184" y="4818888"/>
            <a:ext cx="8485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dirty="0">
                <a:solidFill>
                  <a:srgbClr val="FAF8F4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Each factor gets differentiated once while the other stays.</a:t>
            </a:r>
            <a:endParaRPr lang="en-US" sz="2300" dirty="0"/>
          </a:p>
        </p:txBody>
      </p:sp>
      <p:sp>
        <p:nvSpPr>
          <p:cNvPr id="11" name="Text 8"/>
          <p:cNvSpPr/>
          <p:nvPr/>
        </p:nvSpPr>
        <p:spPr>
          <a:xfrm>
            <a:off x="1143000" y="5824728"/>
            <a:ext cx="6858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82A4F5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Flip for a worked example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" y="109728"/>
            <a:ext cx="8961120" cy="6638544"/>
          </a:xfrm>
          <a:prstGeom prst="roundRect">
            <a:avLst>
              <a:gd name="adj" fmla="val 1102"/>
            </a:avLst>
          </a:prstGeom>
          <a:solidFill>
            <a:srgbClr val="FFFFFF">
              <a:alpha val="0"/>
            </a:srgbClr>
          </a:solidFill>
          <a:ln w="28575">
            <a:solidFill>
              <a:srgbClr val="011E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219456"/>
            <a:ext cx="8741664" cy="6419088"/>
          </a:xfrm>
          <a:prstGeom prst="roundRect">
            <a:avLst>
              <a:gd name="adj" fmla="val 855"/>
            </a:avLst>
          </a:prstGeom>
          <a:solidFill>
            <a:srgbClr val="FFFFFF">
              <a:alpha val="0"/>
            </a:srgbClr>
          </a:solidFill>
          <a:ln w="15875">
            <a:solidFill>
              <a:srgbClr val="011E4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47472"/>
            <a:ext cx="801014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011E4F"/>
                </a:solidFill>
                <a:latin typeface="Bodoni 72" pitchFamily="34" charset="0"/>
                <a:ea typeface="Bodoni 72" pitchFamily="34" charset="-122"/>
                <a:cs typeface="Bodoni 72" pitchFamily="34" charset="-120"/>
              </a:rPr>
              <a:t>Worked Example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749808" y="1362456"/>
            <a:ext cx="7644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i="1" dirty="0">
                <a:solidFill>
                  <a:srgbClr val="176CF8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Differentiate y=(x²)(x+3).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170432" y="1847088"/>
            <a:ext cx="6803136" cy="0"/>
          </a:xfrm>
          <a:prstGeom prst="line">
            <a:avLst/>
          </a:prstGeom>
          <a:noFill/>
          <a:ln w="15875">
            <a:solidFill>
              <a:srgbClr val="011E4F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183795" y="2276094"/>
            <a:ext cx="4776410" cy="491033"/>
          </a:xfrm>
          <a:prstGeom prst="rect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02767" y="2903525"/>
            <a:ext cx="4738467" cy="491033"/>
          </a:xfrm>
          <a:prstGeom prst="rect">
            <a:avLst/>
          </a:prstGeom>
        </p:spPr>
      </p:pic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085980" y="3530956"/>
            <a:ext cx="2972041" cy="491033"/>
          </a:xfrm>
          <a:prstGeom prst="rect">
            <a:avLst/>
          </a:prstGeom>
        </p:spPr>
      </p:pic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708307" y="4158386"/>
            <a:ext cx="3727385" cy="491033"/>
          </a:xfrm>
          <a:prstGeom prst="rect">
            <a:avLst/>
          </a:prstGeom>
        </p:spPr>
      </p:pic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075519" y="4785817"/>
            <a:ext cx="2992962" cy="491033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685800" y="5843016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i="1" dirty="0">
                <a:solidFill>
                  <a:srgbClr val="176CF8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Each changing factor contributes one term.</a:t>
            </a:r>
            <a:endParaRPr lang="en-US" sz="2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Product Rule</dc:title>
  <dc:subject>Concept-only flashcard generated from OpenStax Calculus Volume 1</dc:subject>
  <dc:creator>OpenAI</dc:creator>
  <cp:lastModifiedBy>OpenAI</cp:lastModifiedBy>
  <cp:revision>1</cp:revision>
  <dcterms:created xsi:type="dcterms:W3CDTF">2026-07-24T20:47:59Z</dcterms:created>
  <dcterms:modified xsi:type="dcterms:W3CDTF">2026-07-24T20:47:59Z</dcterms:modified>
</cp:coreProperties>
</file>