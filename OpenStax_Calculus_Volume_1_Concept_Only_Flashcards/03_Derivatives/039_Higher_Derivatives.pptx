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E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109728"/>
            <a:ext cx="8961120" cy="6638544"/>
          </a:xfrm>
          <a:prstGeom prst="roundRect">
            <a:avLst>
              <a:gd name="adj" fmla="val 1102"/>
            </a:avLst>
          </a:prstGeom>
          <a:solidFill>
            <a:srgbClr val="FFFFFF">
              <a:alpha val="0"/>
            </a:srgbClr>
          </a:solidFill>
          <a:ln w="28575">
            <a:solidFill>
              <a:srgbClr val="FAF8F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219456"/>
            <a:ext cx="8741664" cy="6419088"/>
          </a:xfrm>
          <a:prstGeom prst="roundRect">
            <a:avLst>
              <a:gd name="adj" fmla="val 855"/>
            </a:avLst>
          </a:prstGeom>
          <a:solidFill>
            <a:srgbClr val="FFFFFF">
              <a:alpha val="0"/>
            </a:srgbClr>
          </a:solidFill>
          <a:ln w="15875">
            <a:solidFill>
              <a:srgbClr val="FAF8F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81381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AF8F4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Higher Derivatives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777240" y="1481328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500" i="1" dirty="0">
                <a:solidFill>
                  <a:srgbClr val="82A4F5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Rates Of Rates</a:t>
            </a:r>
            <a:endParaRPr lang="en-US" sz="3500" dirty="0"/>
          </a:p>
        </p:txBody>
      </p:sp>
      <p:sp>
        <p:nvSpPr>
          <p:cNvPr id="6" name="Shape 4"/>
          <p:cNvSpPr/>
          <p:nvPr/>
        </p:nvSpPr>
        <p:spPr>
          <a:xfrm>
            <a:off x="1005840" y="2231136"/>
            <a:ext cx="7132320" cy="0"/>
          </a:xfrm>
          <a:prstGeom prst="line">
            <a:avLst/>
          </a:prstGeom>
          <a:noFill/>
          <a:ln w="15875">
            <a:solidFill>
              <a:srgbClr val="82A4F5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583180" y="2468880"/>
            <a:ext cx="3977640" cy="10972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3694176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82A4F5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f′ = first derivative; f″ = second derivative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02920" y="4370832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dirty="0">
                <a:solidFill>
                  <a:srgbClr val="FAF8F4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Higher derivatives describe repeated rates of change.</a:t>
            </a:r>
            <a:endParaRPr lang="en-US" sz="2700" dirty="0"/>
          </a:p>
        </p:txBody>
      </p:sp>
      <p:sp>
        <p:nvSpPr>
          <p:cNvPr id="10" name="Text 7"/>
          <p:cNvSpPr/>
          <p:nvPr/>
        </p:nvSpPr>
        <p:spPr>
          <a:xfrm>
            <a:off x="329184" y="4818888"/>
            <a:ext cx="8485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dirty="0">
                <a:solidFill>
                  <a:srgbClr val="FAF8F4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The second derivative measures how the first derivative changes.</a:t>
            </a:r>
            <a:endParaRPr lang="en-US" sz="2300" dirty="0"/>
          </a:p>
        </p:txBody>
      </p:sp>
      <p:sp>
        <p:nvSpPr>
          <p:cNvPr id="11" name="Text 8"/>
          <p:cNvSpPr/>
          <p:nvPr/>
        </p:nvSpPr>
        <p:spPr>
          <a:xfrm>
            <a:off x="1143000" y="5824728"/>
            <a:ext cx="6858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82A4F5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Flip for a worked example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109728"/>
            <a:ext cx="8961120" cy="6638544"/>
          </a:xfrm>
          <a:prstGeom prst="roundRect">
            <a:avLst>
              <a:gd name="adj" fmla="val 1102"/>
            </a:avLst>
          </a:prstGeom>
          <a:solidFill>
            <a:srgbClr val="FFFFFF">
              <a:alpha val="0"/>
            </a:srgbClr>
          </a:solidFill>
          <a:ln w="28575">
            <a:solidFill>
              <a:srgbClr val="011E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219456"/>
            <a:ext cx="8741664" cy="6419088"/>
          </a:xfrm>
          <a:prstGeom prst="roundRect">
            <a:avLst>
              <a:gd name="adj" fmla="val 855"/>
            </a:avLst>
          </a:prstGeom>
          <a:solidFill>
            <a:srgbClr val="FFFFFF">
              <a:alpha val="0"/>
            </a:srgbClr>
          </a:solidFill>
          <a:ln w="15875">
            <a:solidFill>
              <a:srgbClr val="011E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801014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11E4F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Worked Example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749808" y="1362456"/>
            <a:ext cx="7644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i="1" dirty="0">
                <a:solidFill>
                  <a:srgbClr val="176CF8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Find f″(x) for f(x)=x³.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170432" y="1847088"/>
            <a:ext cx="6803136" cy="0"/>
          </a:xfrm>
          <a:prstGeom prst="line">
            <a:avLst/>
          </a:prstGeom>
          <a:noFill/>
          <a:ln w="15875">
            <a:solidFill>
              <a:srgbClr val="011E4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634740" y="2392070"/>
            <a:ext cx="1874520" cy="502920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51860" y="3147365"/>
            <a:ext cx="2240280" cy="502920"/>
          </a:xfrm>
          <a:prstGeom prst="rect">
            <a:avLst/>
          </a:prstGeom>
        </p:spPr>
      </p:pic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402711" y="3902659"/>
            <a:ext cx="2338578" cy="502920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251835" y="4657954"/>
            <a:ext cx="2640330" cy="50292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85800" y="5843016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i="1" dirty="0">
                <a:solidFill>
                  <a:srgbClr val="176CF8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Differentiate again to measure rate-change.</a:t>
            </a:r>
            <a:endParaRPr lang="en-US" sz="2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Higher Derivatives</dc:title>
  <dc:subject>Concept-only flashcard generated from OpenStax Calculus Volume 1</dc:subject>
  <dc:creator>OpenAI</dc:creator>
  <cp:lastModifiedBy>OpenAI</cp:lastModifiedBy>
  <cp:revision>1</cp:revision>
  <dcterms:created xsi:type="dcterms:W3CDTF">2026-07-24T20:47:59Z</dcterms:created>
  <dcterms:modified xsi:type="dcterms:W3CDTF">2026-07-24T20:47:59Z</dcterms:modified>
</cp:coreProperties>
</file>